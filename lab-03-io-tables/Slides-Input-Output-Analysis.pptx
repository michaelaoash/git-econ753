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F399CA-F545-4783-BA0A-3950194FC1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7A022A-1FEB-42F2-B670-5F6EB147EF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57E4BAA-2E41-40C9-9D10-48F14B82D7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D8F69B-2A3E-473B-81E3-8BB261C919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75ECE49-5071-4117-A2E6-F304803C36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9C7B607-A3E2-42A2-B4F0-B4AAC3077E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AFD66C3-8AD4-441A-BFF5-6C073CFF4F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4D64C2-1E53-4055-8501-E3D64126AD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35815B8-8A0C-405E-B692-8A8D81EBAE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970E4D-0BA0-4961-AAA4-62F8FA8E8F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B04CA43-AAD0-4AAB-A2B9-20A03B4E04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F99864-8EB6-4C80-B3A4-E1DDC971D2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9EB3E-7C1F-42D3-9DF5-545BBD3763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2C8C93-B4F3-4A45-A0E3-285A118FA2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E9BC77-2786-4494-B884-482B1DF241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C4430E-BBCB-4093-9C28-A06BEAE596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B0EAE0-F96D-4C88-A90D-E5A127A021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A15F84-D4AD-472C-AC78-E48C7EC567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4F65B1-C3AC-487B-B3E4-A5EC52E4F9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616177-29CC-4159-9672-E21154F84A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D3A0D3-07F5-4A24-990C-7642E8C437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2B363-D867-4991-AA42-D76B3C1245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://www.wiod.org/database/" TargetMode="External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Input-Output Analysis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South Korea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September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Black"/>
              </a:rPr>
              <a:t>Theory in Brief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70" name="Straight Connector 6"/>
          <p:cNvCxnSpPr/>
          <p:nvPr/>
        </p:nvCxnSpPr>
        <p:spPr>
          <a:xfrm>
            <a:off x="2666880" y="838080"/>
            <a:ext cx="35816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1803240" y="1295280"/>
            <a:ext cx="5536800" cy="388584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1066680" y="5181480"/>
            <a:ext cx="655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Imports-Ridden Input-Output Accounting Framework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Black"/>
              </a:rPr>
              <a:t>Theory in Brief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74" name="Straight Connector 6"/>
          <p:cNvCxnSpPr/>
          <p:nvPr/>
        </p:nvCxnSpPr>
        <p:spPr>
          <a:xfrm>
            <a:off x="2666880" y="838080"/>
            <a:ext cx="35816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pic>
        <p:nvPicPr>
          <p:cNvPr id="75" name="Picture 4" descr=""/>
          <p:cNvPicPr/>
          <p:nvPr/>
        </p:nvPicPr>
        <p:blipFill>
          <a:blip r:embed="rId1"/>
          <a:stretch/>
        </p:blipFill>
        <p:spPr>
          <a:xfrm>
            <a:off x="888840" y="993240"/>
            <a:ext cx="7137000" cy="171432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7" descr=""/>
          <p:cNvPicPr/>
          <p:nvPr/>
        </p:nvPicPr>
        <p:blipFill>
          <a:blip r:embed="rId2"/>
          <a:stretch/>
        </p:blipFill>
        <p:spPr>
          <a:xfrm>
            <a:off x="473040" y="2707560"/>
            <a:ext cx="7391160" cy="157428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10" descr=""/>
          <p:cNvPicPr/>
          <p:nvPr/>
        </p:nvPicPr>
        <p:blipFill>
          <a:blip r:embed="rId3"/>
          <a:stretch/>
        </p:blipFill>
        <p:spPr>
          <a:xfrm>
            <a:off x="1257480" y="4648320"/>
            <a:ext cx="6768720" cy="152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Black"/>
              </a:rPr>
              <a:t>Theory in Brief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79" name="Straight Connector 6"/>
          <p:cNvCxnSpPr/>
          <p:nvPr/>
        </p:nvCxnSpPr>
        <p:spPr>
          <a:xfrm>
            <a:off x="2666880" y="838080"/>
            <a:ext cx="35816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pic>
        <p:nvPicPr>
          <p:cNvPr id="80" name="Picture 1" descr=""/>
          <p:cNvPicPr/>
          <p:nvPr/>
        </p:nvPicPr>
        <p:blipFill>
          <a:blip r:embed="rId1"/>
          <a:stretch/>
        </p:blipFill>
        <p:spPr>
          <a:xfrm>
            <a:off x="1828800" y="991080"/>
            <a:ext cx="6095520" cy="59652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2" descr=""/>
          <p:cNvPicPr/>
          <p:nvPr/>
        </p:nvPicPr>
        <p:blipFill>
          <a:blip r:embed="rId2"/>
          <a:stretch/>
        </p:blipFill>
        <p:spPr>
          <a:xfrm>
            <a:off x="76320" y="2719080"/>
            <a:ext cx="7772040" cy="172800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5" descr=""/>
          <p:cNvPicPr/>
          <p:nvPr/>
        </p:nvPicPr>
        <p:blipFill>
          <a:blip r:embed="rId3"/>
          <a:stretch/>
        </p:blipFill>
        <p:spPr>
          <a:xfrm>
            <a:off x="0" y="2099520"/>
            <a:ext cx="7772040" cy="599400"/>
          </a:xfrm>
          <a:prstGeom prst="rect">
            <a:avLst/>
          </a:prstGeom>
          <a:ln w="0">
            <a:noFill/>
          </a:ln>
        </p:spPr>
      </p:pic>
      <p:sp>
        <p:nvSpPr>
          <p:cNvPr id="83" name="TextBox 9"/>
          <p:cNvSpPr/>
          <p:nvPr/>
        </p:nvSpPr>
        <p:spPr>
          <a:xfrm>
            <a:off x="1143000" y="1670040"/>
            <a:ext cx="6857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How does X changes to a change in Y? Intuitively: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11" descr=""/>
          <p:cNvPicPr/>
          <p:nvPr/>
        </p:nvPicPr>
        <p:blipFill>
          <a:blip r:embed="rId4"/>
          <a:stretch/>
        </p:blipFill>
        <p:spPr>
          <a:xfrm>
            <a:off x="762120" y="4810680"/>
            <a:ext cx="7772040" cy="1497240"/>
          </a:xfrm>
          <a:prstGeom prst="rect">
            <a:avLst/>
          </a:prstGeom>
          <a:ln w="0">
            <a:solidFill>
              <a:srgbClr val="4f81bd"/>
            </a:solidFill>
          </a:ln>
        </p:spPr>
      </p:pic>
      <p:sp>
        <p:nvSpPr>
          <p:cNvPr id="85" name="TextBox 12"/>
          <p:cNvSpPr/>
          <p:nvPr/>
        </p:nvSpPr>
        <p:spPr>
          <a:xfrm>
            <a:off x="7543800" y="6172200"/>
            <a:ext cx="837720" cy="4107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Black"/>
              </a:rPr>
              <a:t>Data Source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533520" y="1009800"/>
            <a:ext cx="8229240" cy="51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Arial Rounded MT Bold"/>
              </a:rPr>
              <a:t>Data Source for the I-O Table of the Korean Economy: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1. Bank of Korea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Link: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https://www.bok.or.kr/eng/bbs/E0000634/view.do?nttId=10058883&amp;menuNo=400069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(The data files have already been provided.)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2. Data available at three levels of detail: We used the most detailed table of 165X165 industries.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3. The year chosen was the latest available -2018.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Straight Connector 6"/>
          <p:cNvCxnSpPr/>
          <p:nvPr/>
        </p:nvCxnSpPr>
        <p:spPr>
          <a:xfrm>
            <a:off x="2666880" y="838080"/>
            <a:ext cx="35816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94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2800" spc="-1" strike="noStrike" u="sng">
                <a:solidFill>
                  <a:schemeClr val="dk2">
                    <a:lumMod val="60000"/>
                    <a:lumOff val="40000"/>
                  </a:schemeClr>
                </a:solidFill>
                <a:uFillTx/>
                <a:latin typeface="Calibri"/>
              </a:rPr>
              <a:t>Employment Data of Korea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33520" y="1523880"/>
            <a:ext cx="80769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Same data source: Bank of Korea.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We used the Full Time Equivalent Employment numbers.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Year of data chosen, 2018, corresponds to the same year as I-O (will be explained later).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4. The same detailed table matched the I-O industry level.</a:t>
            </a:r>
            <a:br>
              <a:rPr sz="2400"/>
            </a:br>
            <a:br>
              <a:rPr sz="18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Arial Black"/>
              </a:rPr>
              <a:t>Alternative Data sources for I/O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92" name="Straight Connector 5"/>
          <p:cNvCxnSpPr/>
          <p:nvPr/>
        </p:nvCxnSpPr>
        <p:spPr>
          <a:xfrm>
            <a:off x="1600200" y="1218960"/>
            <a:ext cx="60962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93" name="TextBox 8"/>
          <p:cNvSpPr/>
          <p:nvPr/>
        </p:nvSpPr>
        <p:spPr>
          <a:xfrm>
            <a:off x="457200" y="1371600"/>
            <a:ext cx="8381520" cy="29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 u="sng">
                <a:solidFill>
                  <a:schemeClr val="dk1"/>
                </a:solidFill>
                <a:uFillTx/>
                <a:latin typeface="Arial"/>
                <a:hlinkClick r:id="rId1"/>
              </a:rPr>
              <a:t>http://www.wiod.org/database/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Step 1: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on the link National Input-Output Tables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Step 2: Click on the country and choose the year (corresponding to the year of employment data).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57400"/>
            <a:ext cx="822924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Rounded MT Bold"/>
              </a:rPr>
              <a:t>Steps to arrive at the Employment Figures for Green Energy Program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95" name="Straight Connector 4"/>
          <p:cNvCxnSpPr/>
          <p:nvPr/>
        </p:nvCxnSpPr>
        <p:spPr>
          <a:xfrm>
            <a:off x="914400" y="1143000"/>
            <a:ext cx="731556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96" name="TextBox 5"/>
          <p:cNvSpPr/>
          <p:nvPr/>
        </p:nvSpPr>
        <p:spPr>
          <a:xfrm>
            <a:off x="685800" y="1261800"/>
            <a:ext cx="784836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STEP-1 :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Three important categories  of data: Input-output table,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Gross output and Total Employment.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STEP-2: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Generate the (I-A) inverse matrix from Input-Output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Matrix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STEP-3: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Calculate the Employment–Output Ratio for each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individual levels of industry.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STEP-4: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Sort/Match the Employment– Output Ratio according to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Input-Output table.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Note#1: The individual industries mentioned in the employment column may not always exactly correspond to the individual industry names in the Input-Output table. Choose the closest possible industry and sum it up for grouping (if required).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33520" y="31680"/>
            <a:ext cx="83815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Rounded MT Bold"/>
              </a:rPr>
              <a:t>Steps to arrive at the Employment Figures (Contd.)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98" name="Straight Connector 3"/>
          <p:cNvCxnSpPr/>
          <p:nvPr/>
        </p:nvCxnSpPr>
        <p:spPr>
          <a:xfrm>
            <a:off x="838080" y="1218960"/>
            <a:ext cx="777276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99" name="TextBox 4"/>
          <p:cNvSpPr/>
          <p:nvPr/>
        </p:nvSpPr>
        <p:spPr>
          <a:xfrm>
            <a:off x="647640" y="1523880"/>
            <a:ext cx="784836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STEP-5: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Multiply the Employment – Output ratio with the Input-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Output Table to calculate the figures for employment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generated in each industry.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800"/>
            </a:b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STEP-6 :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Calculate the total, direct and indirect employment figures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 each individual energy sector using the weights.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Note#2: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The diagonal elements in the new matrix gives the direct 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employment figures and the remainder is the indirect 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employments generated.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Note#3: You can also change the weights to levels which you feel apt and 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calculate the employment figures.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33520" y="31680"/>
            <a:ext cx="83815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 Rounded MT Bold"/>
              </a:rPr>
              <a:t>Steps to arrive at the Employment Figures (Contd.)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01" name="Straight Connector 3"/>
          <p:cNvCxnSpPr/>
          <p:nvPr/>
        </p:nvCxnSpPr>
        <p:spPr>
          <a:xfrm>
            <a:off x="838080" y="1218960"/>
            <a:ext cx="777276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102" name="TextBox 4"/>
          <p:cNvSpPr/>
          <p:nvPr/>
        </p:nvSpPr>
        <p:spPr>
          <a:xfrm>
            <a:off x="659520" y="1501560"/>
            <a:ext cx="78483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STEP-7: Calculate the Total Employment Generated in the Green program.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6">
                    <a:lumMod val="75000"/>
                  </a:schemeClr>
                </a:solidFill>
                <a:latin typeface="Arial"/>
              </a:rPr>
              <a:t>Note#4: You can also change the weights of the program in case you think a particular energy sector deserves more importance.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STEP-8: Compare the figures with those of the fossil fuel industry like Coal and Oil &amp; Gas.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C0C2D073B57C4BA6DD00CAE15DB055" ma:contentTypeVersion="14" ma:contentTypeDescription="Create a new document." ma:contentTypeScope="" ma:versionID="4b1703a3bd7e11b4ae6f310a578e373f">
  <xsd:schema xmlns:xsd="http://www.w3.org/2001/XMLSchema" xmlns:xs="http://www.w3.org/2001/XMLSchema" xmlns:p="http://schemas.microsoft.com/office/2006/metadata/properties" xmlns:ns3="55d47017-2ce7-4322-b7c0-81e027266bbd" xmlns:ns4="ba69ee57-497c-40ec-885a-dc027a8fa7d9" targetNamespace="http://schemas.microsoft.com/office/2006/metadata/properties" ma:root="true" ma:fieldsID="8c4d388276043a7ea5b3f8f7f8b9b2f3" ns3:_="" ns4:_="">
    <xsd:import namespace="55d47017-2ce7-4322-b7c0-81e027266bbd"/>
    <xsd:import namespace="ba69ee57-497c-40ec-885a-dc027a8fa7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47017-2ce7-4322-b7c0-81e027266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9ee57-497c-40ec-885a-dc027a8fa7d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7D4C-5FF7-4CF0-AB5E-DFA09B3433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d47017-2ce7-4322-b7c0-81e027266bbd"/>
    <ds:schemaRef ds:uri="ba69ee57-497c-40ec-885a-dc027a8fa7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32C2A6-509E-452A-A52E-93C342B33C7D}">
  <ds:schemaRefs>
    <ds:schemaRef ds:uri="55d47017-2ce7-4322-b7c0-81e027266bbd"/>
    <ds:schemaRef ds:uri="http://purl.org/dc/terms/"/>
    <ds:schemaRef ds:uri="ba69ee57-497c-40ec-885a-dc027a8fa7d9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A7F9348-C2B4-4BB1-A066-4C5EE196B7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</TotalTime>
  <Application>LibreOffice/24.2.7.2$Linux_X86_64 LibreOffice_project/420$Build-2</Application>
  <AppVersion>15.0000</AppVersion>
  <Words>546</Words>
  <Paragraphs>55</Paragraphs>
  <Company>Toshiba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2013-09-18T15:28:01Z</dcterms:created>
  <dc:creator>BANI-SUBHO</dc:creator>
  <dc:description/>
  <dc:language>en-US</dc:language>
  <cp:lastModifiedBy>Michael Ash</cp:lastModifiedBy>
  <dcterms:modified xsi:type="dcterms:W3CDTF">2026-09-22T10:33:38Z</dcterms:modified>
  <cp:revision>33</cp:revision>
  <dc:subject/>
  <dc:title>Input-Output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0x010100BFC0C2D073B57C4BA6DD00CAE15DB055</vt:lpwstr>
  </property>
  <property fmtid="{D5CDD505-2E9C-101B-9397-08002B2CF9AE}" pid="3" name="PresentationFormat">
    <vt:lpwstr>On-screen Show (4:3)</vt:lpwstr>
  </property>
  <property fmtid="{D5CDD505-2E9C-101B-9397-08002B2CF9AE}" pid="4" name="Slides">
    <vt:i4>10</vt:i4>
  </property>
</Properties>
</file>